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6" r:id="rId4"/>
    <p:sldId id="267" r:id="rId5"/>
    <p:sldId id="261" r:id="rId6"/>
    <p:sldId id="263" r:id="rId7"/>
    <p:sldId id="264" r:id="rId8"/>
    <p:sldId id="268" r:id="rId9"/>
    <p:sldId id="271" r:id="rId10"/>
    <p:sldId id="273" r:id="rId11"/>
    <p:sldId id="274" r:id="rId12"/>
    <p:sldId id="259" r:id="rId13"/>
    <p:sldId id="258" r:id="rId14"/>
    <p:sldId id="262" r:id="rId15"/>
    <p:sldId id="260" r:id="rId16"/>
    <p:sldId id="269" r:id="rId17"/>
    <p:sldId id="265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2D0C3C6-D0D3-4246-871D-C4085E9D3EB7}">
          <p14:sldIdLst>
            <p14:sldId id="256"/>
            <p14:sldId id="257"/>
            <p14:sldId id="266"/>
            <p14:sldId id="267"/>
            <p14:sldId id="261"/>
            <p14:sldId id="263"/>
            <p14:sldId id="264"/>
            <p14:sldId id="268"/>
            <p14:sldId id="271"/>
            <p14:sldId id="273"/>
            <p14:sldId id="274"/>
            <p14:sldId id="259"/>
            <p14:sldId id="258"/>
            <p14:sldId id="262"/>
            <p14:sldId id="260"/>
            <p14:sldId id="269"/>
            <p14:sldId id="265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037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557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091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876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7329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1999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103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896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6589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370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5601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65841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4747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0353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1279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62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A4E0-6424-46EC-8E18-237F3E51D3B3}" type="datetimeFigureOut">
              <a:rPr lang="de-AT" smtClean="0"/>
              <a:t>02.03.2022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5ACC02-35EA-4047-A11C-74BEB47C6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174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achener-zeitung.de/karlo-clever/eisen-vor-rost-schuetzen_aid-62309393" TargetMode="External"/><Relationship Id="rId2" Type="http://schemas.openxmlformats.org/officeDocument/2006/relationships/hyperlink" Target="https://www.kleinezeitung.at/auto/motorraum/5871050/GEMEINER-LOCHFRASS_Alles-ueber-die-braune-P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ittellaendische.ch/2020/10/23/korrosion-schleichender-zerfall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gzfp.de/Portals/24/IZ/PDF/Jugend%20forscht/RW%20Frankfurt%20am%20Main%202018.pdf" TargetMode="External"/><Relationship Id="rId2" Type="http://schemas.openxmlformats.org/officeDocument/2006/relationships/hyperlink" Target="https://www.tech-isolierung.de/korrosion-unter-der-daemmung-ein-milliarden-euro-problem-1509202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811ED-BAEA-4583-B82A-FF8CB8C14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238" y="412448"/>
            <a:ext cx="7766936" cy="1646302"/>
          </a:xfrm>
        </p:spPr>
        <p:txBody>
          <a:bodyPr/>
          <a:lstStyle/>
          <a:p>
            <a:r>
              <a:rPr lang="de-AT" dirty="0"/>
              <a:t>Korrosion (Rost)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677C30-97FB-4AE4-8BEF-1798F600E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3180" y="5146765"/>
            <a:ext cx="1981200" cy="206830"/>
          </a:xfrm>
        </p:spPr>
        <p:txBody>
          <a:bodyPr>
            <a:normAutofit fontScale="47500" lnSpcReduction="20000"/>
          </a:bodyPr>
          <a:lstStyle/>
          <a:p>
            <a:endParaRPr lang="de-AT" dirty="0"/>
          </a:p>
        </p:txBody>
      </p:sp>
      <p:pic>
        <p:nvPicPr>
          <p:cNvPr id="1028" name="Picture 4" descr="Rost konservieren - Diese Mittel sind dafür geeignet">
            <a:extLst>
              <a:ext uri="{FF2B5EF4-FFF2-40B4-BE49-F238E27FC236}">
                <a16:creationId xmlns:a16="http://schemas.microsoft.com/office/drawing/2014/main" id="{0C3C08CF-932B-4E77-AC21-C007927A6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40" y="2611175"/>
            <a:ext cx="5851534" cy="390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28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B2BF3-317C-4947-93CC-69BCEE49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34E675-9B06-48ED-AA61-5E0B3C43A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1181"/>
            <a:ext cx="8596668" cy="4320540"/>
          </a:xfrm>
        </p:spPr>
        <p:txBody>
          <a:bodyPr>
            <a:normAutofit/>
          </a:bodyPr>
          <a:lstStyle/>
          <a:p>
            <a:r>
              <a:rPr lang="de-AT" dirty="0"/>
              <a:t>Begriffsdefinition</a:t>
            </a:r>
          </a:p>
          <a:p>
            <a:r>
              <a:rPr lang="de-AT" dirty="0"/>
              <a:t>Chemische Sicht</a:t>
            </a:r>
          </a:p>
          <a:p>
            <a:r>
              <a:rPr lang="de-AT" dirty="0"/>
              <a:t>Schutz bzw. Prävention</a:t>
            </a:r>
          </a:p>
          <a:p>
            <a:r>
              <a:rPr lang="de-AT" dirty="0"/>
              <a:t>Arten</a:t>
            </a:r>
          </a:p>
          <a:p>
            <a:r>
              <a:rPr lang="de-AT" dirty="0"/>
              <a:t>Finanzielle Schäden</a:t>
            </a:r>
          </a:p>
          <a:p>
            <a:r>
              <a:rPr lang="de-AT" dirty="0"/>
              <a:t>Zeitungsartikel</a:t>
            </a:r>
          </a:p>
          <a:p>
            <a:r>
              <a:rPr lang="de-AT" dirty="0"/>
              <a:t>Fragen an die Klasse</a:t>
            </a:r>
          </a:p>
          <a:p>
            <a:r>
              <a:rPr lang="de-AT" dirty="0"/>
              <a:t>Sonstige Quellangaben</a:t>
            </a:r>
          </a:p>
          <a:p>
            <a:r>
              <a:rPr lang="de-AT" dirty="0"/>
              <a:t>Meine Meinung</a:t>
            </a:r>
          </a:p>
          <a:p>
            <a:r>
              <a:rPr lang="de-AT" dirty="0"/>
              <a:t>Reaktionsgleichung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7628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18130-3E08-4731-AEA4-212D8BA3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ist Korrosion?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4DD39-6690-4126-A572-61AA3B1F8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dirty="0"/>
              <a:t>Eine Zerstörung bzw. Verletzung der Oberfläche eines Stoffes</a:t>
            </a:r>
          </a:p>
          <a:p>
            <a:endParaRPr lang="de-AT" dirty="0"/>
          </a:p>
          <a:p>
            <a:r>
              <a:rPr lang="de-AT" dirty="0"/>
              <a:t>Verschlechterung eines Metalls</a:t>
            </a:r>
          </a:p>
          <a:p>
            <a:endParaRPr lang="de-AT" dirty="0"/>
          </a:p>
          <a:p>
            <a:r>
              <a:rPr lang="de-AT" dirty="0"/>
              <a:t>Häufigste Art: Rost</a:t>
            </a:r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twi-global.com/locations/deutschland/was-wir-tun/haeufig-gestellte-fragen/was-ist-korrosion</a:t>
            </a:r>
          </a:p>
        </p:txBody>
      </p:sp>
    </p:spTree>
    <p:extLst>
      <p:ext uri="{BB962C8B-B14F-4D97-AF65-F5344CB8AC3E}">
        <p14:creationId xmlns:p14="http://schemas.microsoft.com/office/powerpoint/2010/main" val="89306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8E1E3-8657-488B-BEF1-0F6C053B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05C961-2B79-4C39-B740-274D8DCDF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4713514"/>
            <a:ext cx="1262743" cy="1327849"/>
          </a:xfrm>
        </p:spPr>
        <p:txBody>
          <a:bodyPr>
            <a:normAutofit/>
          </a:bodyPr>
          <a:lstStyle/>
          <a:p>
            <a:endParaRPr lang="de-AT" dirty="0"/>
          </a:p>
        </p:txBody>
      </p:sp>
      <p:pic>
        <p:nvPicPr>
          <p:cNvPr id="3074" name="Picture 2" descr="Rost bei Neuwagen: Liste enthüllt, welche Autos im Rekordtempo verrotten -  FOCUS Online">
            <a:extLst>
              <a:ext uri="{FF2B5EF4-FFF2-40B4-BE49-F238E27FC236}">
                <a16:creationId xmlns:a16="http://schemas.microsoft.com/office/drawing/2014/main" id="{4D49F87F-D1A7-48FD-A7C0-3BF3367A0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459500"/>
            <a:ext cx="2955161" cy="247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o entfernst du Rost vom Spülmaschinenkorb">
            <a:extLst>
              <a:ext uri="{FF2B5EF4-FFF2-40B4-BE49-F238E27FC236}">
                <a16:creationId xmlns:a16="http://schemas.microsoft.com/office/drawing/2014/main" id="{F7F2F9FE-510E-4E07-BBDF-7608667A7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102" y="1438438"/>
            <a:ext cx="2955161" cy="393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tahl rostet » Ursachen und Maßnahmen">
            <a:extLst>
              <a:ext uri="{FF2B5EF4-FFF2-40B4-BE49-F238E27FC236}">
                <a16:creationId xmlns:a16="http://schemas.microsoft.com/office/drawing/2014/main" id="{6566995D-CA4C-49CA-892C-A59DF085F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106443"/>
            <a:ext cx="3883031" cy="258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83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E979D-D5B9-4F30-B799-B58A9D51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200" dirty="0"/>
              <a:t>Chemische Sicht von Korrosion (Bsp. Rost)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49D5D-5E17-4024-BB00-1E5002EB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136137" cy="3880773"/>
          </a:xfrm>
        </p:spPr>
        <p:txBody>
          <a:bodyPr>
            <a:normAutofit fontScale="92500" lnSpcReduction="20000"/>
          </a:bodyPr>
          <a:lstStyle/>
          <a:p>
            <a:r>
              <a:rPr lang="de-AT" dirty="0"/>
              <a:t>Metall gibt Elektronen an den Sauerstoff der Luft ab (Oxidation)</a:t>
            </a:r>
          </a:p>
          <a:p>
            <a:endParaRPr lang="de-AT" dirty="0"/>
          </a:p>
          <a:p>
            <a:r>
              <a:rPr lang="de-AT" dirty="0"/>
              <a:t>Dadurch werden Teilchen des Metalls zu Kationen (positiv geladen)</a:t>
            </a:r>
          </a:p>
          <a:p>
            <a:endParaRPr lang="de-AT" dirty="0"/>
          </a:p>
          <a:p>
            <a:r>
              <a:rPr lang="de-AT" dirty="0"/>
              <a:t>Diese Kationen können sich nun im Wasser auflösen und es entstehen Löcher im Metall</a:t>
            </a:r>
          </a:p>
          <a:p>
            <a:endParaRPr lang="de-AT" dirty="0"/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sz="1900" b="1" dirty="0"/>
              <a:t>Quelle:</a:t>
            </a:r>
          </a:p>
          <a:p>
            <a:pPr marL="0" indent="0">
              <a:buNone/>
            </a:pPr>
            <a:r>
              <a:rPr lang="de-AT" sz="1900" dirty="0"/>
              <a:t>www.youtube.com/watch?v=OybxKtoRZDs</a:t>
            </a:r>
          </a:p>
        </p:txBody>
      </p:sp>
    </p:spTree>
    <p:extLst>
      <p:ext uri="{BB962C8B-B14F-4D97-AF65-F5344CB8AC3E}">
        <p14:creationId xmlns:p14="http://schemas.microsoft.com/office/powerpoint/2010/main" val="209820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0EE41-4D23-4042-AC89-A7A01A9C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Passiver Schutz gegen 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EADD4-775C-48B2-A854-18CC3B00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125546" cy="4407851"/>
          </a:xfrm>
        </p:spPr>
        <p:txBody>
          <a:bodyPr>
            <a:normAutofit lnSpcReduction="10000"/>
          </a:bodyPr>
          <a:lstStyle/>
          <a:p>
            <a:r>
              <a:rPr lang="de-AT" dirty="0"/>
              <a:t>Die Oberfläche des Metalls wird mit einer Schutzschicht überzogen</a:t>
            </a:r>
          </a:p>
          <a:p>
            <a:pPr marL="0" indent="0">
              <a:buNone/>
            </a:pPr>
            <a:endParaRPr lang="de-AT" dirty="0"/>
          </a:p>
          <a:p>
            <a:r>
              <a:rPr lang="de-AT" dirty="0"/>
              <a:t>Damit kommt es nicht mit Sauerstoff und Wasser in Berührung</a:t>
            </a:r>
          </a:p>
          <a:p>
            <a:pPr marL="0" indent="0">
              <a:buNone/>
            </a:pPr>
            <a:endParaRPr lang="de-AT" dirty="0"/>
          </a:p>
          <a:p>
            <a:r>
              <a:rPr lang="de-AT" dirty="0"/>
              <a:t>Beispiele: Autolack, Kunststoffbeschichtung, Fette</a:t>
            </a:r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wlw.de/de/inside-business/branchen-insights/oberflaechentechnik/korrosionsschutz</a:t>
            </a:r>
          </a:p>
        </p:txBody>
      </p:sp>
      <p:pic>
        <p:nvPicPr>
          <p:cNvPr id="4102" name="Picture 6" descr="Weiss | Rost Foto &amp; Bild | spezial, marode, alt Bilder auf ...">
            <a:extLst>
              <a:ext uri="{FF2B5EF4-FFF2-40B4-BE49-F238E27FC236}">
                <a16:creationId xmlns:a16="http://schemas.microsoft.com/office/drawing/2014/main" id="{FF33DC6F-B6A5-4FD9-8F5E-40496D043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860" y="4079240"/>
            <a:ext cx="4168140" cy="27787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49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85498-FE4F-43BA-9EAC-FD454CCF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Aktiver Schutz gegen 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4C6183-828C-4D75-9732-C7A05336D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03991"/>
          </a:xfrm>
        </p:spPr>
        <p:txBody>
          <a:bodyPr>
            <a:normAutofit fontScale="92500" lnSpcReduction="20000"/>
          </a:bodyPr>
          <a:lstStyle/>
          <a:p>
            <a:r>
              <a:rPr lang="de-AT" dirty="0"/>
              <a:t>Elektrische Verbindung mit einem unedlem Metall (Opferanode)</a:t>
            </a:r>
          </a:p>
          <a:p>
            <a:r>
              <a:rPr lang="de-AT" dirty="0"/>
              <a:t>Wenn Elektronen abgegeben werden, bekommt das Metall gleich wieder welche von der Opferanode</a:t>
            </a:r>
          </a:p>
          <a:p>
            <a:endParaRPr lang="de-AT" dirty="0"/>
          </a:p>
          <a:p>
            <a:r>
              <a:rPr lang="de-AT" dirty="0"/>
              <a:t>Statt einem unedlem Metall als Opferanode, könnte man auch eine DC-Stromquelle benutzen</a:t>
            </a:r>
          </a:p>
          <a:p>
            <a:endParaRPr lang="de-AT" dirty="0"/>
          </a:p>
          <a:p>
            <a:r>
              <a:rPr lang="de-AT" dirty="0"/>
              <a:t>Anwendung: Schiffsbau, Stahlbetonbrücken</a:t>
            </a:r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www.youtube.com/watch?v=OybxKtoRZDs</a:t>
            </a:r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9362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241A5-ED9D-48B9-8E88-22131830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Arten von 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A889F-76D2-4038-A921-FA6A8478B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7482"/>
            <a:ext cx="8596668" cy="4676047"/>
          </a:xfrm>
        </p:spPr>
        <p:txBody>
          <a:bodyPr>
            <a:normAutofit/>
          </a:bodyPr>
          <a:lstStyle/>
          <a:p>
            <a:endParaRPr lang="de-AT" dirty="0"/>
          </a:p>
          <a:p>
            <a:r>
              <a:rPr lang="de-AT" dirty="0"/>
              <a:t>Kontaktkorrosion</a:t>
            </a:r>
          </a:p>
          <a:p>
            <a:endParaRPr lang="de-AT" dirty="0"/>
          </a:p>
          <a:p>
            <a:r>
              <a:rPr lang="de-AT" dirty="0"/>
              <a:t>Lochfraßkorrosion</a:t>
            </a:r>
          </a:p>
          <a:p>
            <a:endParaRPr lang="de-AT" dirty="0"/>
          </a:p>
          <a:p>
            <a:r>
              <a:rPr lang="de-AT" dirty="0"/>
              <a:t>Spannungsrisskorrosion</a:t>
            </a:r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metallograf.de/begriffe/of-korrosion.htm</a:t>
            </a:r>
          </a:p>
        </p:txBody>
      </p:sp>
    </p:spTree>
    <p:extLst>
      <p:ext uri="{BB962C8B-B14F-4D97-AF65-F5344CB8AC3E}">
        <p14:creationId xmlns:p14="http://schemas.microsoft.com/office/powerpoint/2010/main" val="317646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B1234-FDF4-49F2-9030-8890F27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Kontaktkorrosion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E10F56-BDE7-40A0-9422-8F822A80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dirty="0"/>
              <a:t>Auch genannt </a:t>
            </a:r>
            <a:r>
              <a:rPr lang="de-AT" dirty="0" err="1"/>
              <a:t>Bimetallkorrosion</a:t>
            </a:r>
            <a:endParaRPr lang="de-AT" dirty="0"/>
          </a:p>
          <a:p>
            <a:endParaRPr lang="de-AT" dirty="0"/>
          </a:p>
          <a:p>
            <a:r>
              <a:rPr lang="de-AT" dirty="0"/>
              <a:t>Entsteht wenn sich 2 verschiedene Metalle berühren</a:t>
            </a:r>
          </a:p>
          <a:p>
            <a:pPr marL="0" indent="0">
              <a:buNone/>
            </a:pPr>
            <a:endParaRPr lang="de-AT" dirty="0"/>
          </a:p>
          <a:p>
            <a:r>
              <a:rPr lang="de-AT" dirty="0"/>
              <a:t>Dafür muss ein Elektrolyt vorliegen (ein Feuchtigkeitsfilm reicht)</a:t>
            </a:r>
          </a:p>
          <a:p>
            <a:endParaRPr lang="de-AT" dirty="0"/>
          </a:p>
          <a:p>
            <a:r>
              <a:rPr lang="de-AT" dirty="0"/>
              <a:t>Das unedlere Metall wirkt dann wie eine Opferanode für das andere Metall und löst sich auf</a:t>
            </a:r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hausjournal.net/kontaktkorrosion</a:t>
            </a:r>
          </a:p>
        </p:txBody>
      </p:sp>
      <p:pic>
        <p:nvPicPr>
          <p:cNvPr id="7170" name="Picture 2" descr="Falsche Werkstoffpaarung">
            <a:extLst>
              <a:ext uri="{FF2B5EF4-FFF2-40B4-BE49-F238E27FC236}">
                <a16:creationId xmlns:a16="http://schemas.microsoft.com/office/drawing/2014/main" id="{8FAE686E-3FA8-41E7-8EC7-FF934239B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60" y="333375"/>
            <a:ext cx="4758267" cy="2676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06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84A50-972F-45C6-B876-AB80E752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Lochfraßkorrosion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F97651-74A3-4FCA-AEBC-12A49534C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dirty="0"/>
              <a:t>Punkt/Kraterförmige kleine Löcher auf der Oberfläche</a:t>
            </a:r>
          </a:p>
          <a:p>
            <a:endParaRPr lang="de-AT" dirty="0"/>
          </a:p>
          <a:p>
            <a:r>
              <a:rPr lang="de-AT" dirty="0"/>
              <a:t>Dehnen sich mit der Zeit immer mehr aus</a:t>
            </a:r>
          </a:p>
          <a:p>
            <a:endParaRPr lang="de-AT" dirty="0"/>
          </a:p>
          <a:p>
            <a:r>
              <a:rPr lang="de-AT" dirty="0"/>
              <a:t>Passiert wenn eine passive Schutzschicht durchbrochen wird</a:t>
            </a:r>
          </a:p>
          <a:p>
            <a:endParaRPr lang="de-AT" dirty="0"/>
          </a:p>
          <a:p>
            <a:r>
              <a:rPr lang="de-AT" dirty="0"/>
              <a:t>Beispiel: Flugrost</a:t>
            </a:r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doerken-mks.de/de/glossar-alt/lochkorrosion/</a:t>
            </a:r>
          </a:p>
        </p:txBody>
      </p:sp>
      <p:pic>
        <p:nvPicPr>
          <p:cNvPr id="5132" name="Picture 12" descr="Warum auch Dein Auto „rostet“ – Flugrost sicher entfernen – Detailers Home">
            <a:extLst>
              <a:ext uri="{FF2B5EF4-FFF2-40B4-BE49-F238E27FC236}">
                <a16:creationId xmlns:a16="http://schemas.microsoft.com/office/drawing/2014/main" id="{7B92893B-617F-4DFB-95CC-4A02DAA83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204" y="2443836"/>
            <a:ext cx="3314277" cy="331427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98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ADD9E7-6B8D-4D97-8E5A-F8C95560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Spannungsrisskorrosion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5F46E4-4E8E-44B7-AFA9-EF286AB95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62131"/>
          </a:xfrm>
        </p:spPr>
        <p:txBody>
          <a:bodyPr>
            <a:normAutofit lnSpcReduction="10000"/>
          </a:bodyPr>
          <a:lstStyle/>
          <a:p>
            <a:r>
              <a:rPr lang="de-AT" dirty="0"/>
              <a:t>Zugbelastung des Werkstoffes</a:t>
            </a:r>
          </a:p>
          <a:p>
            <a:endParaRPr lang="de-AT" dirty="0"/>
          </a:p>
          <a:p>
            <a:r>
              <a:rPr lang="de-AT" dirty="0"/>
              <a:t>Es entstehen Mikrorisse</a:t>
            </a:r>
          </a:p>
          <a:p>
            <a:endParaRPr lang="de-AT" dirty="0"/>
          </a:p>
          <a:p>
            <a:r>
              <a:rPr lang="de-AT" dirty="0"/>
              <a:t>Diese Risse werden dann anfällig für andere Korrosionsarten</a:t>
            </a:r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glossar.item24.com/glossarindex/artikel/item/spannungsrisskorrosion.html</a:t>
            </a:r>
          </a:p>
        </p:txBody>
      </p:sp>
      <p:pic>
        <p:nvPicPr>
          <p:cNvPr id="6146" name="Picture 2" descr="Spannungsrisskorrosion bei Messing">
            <a:extLst>
              <a:ext uri="{FF2B5EF4-FFF2-40B4-BE49-F238E27FC236}">
                <a16:creationId xmlns:a16="http://schemas.microsoft.com/office/drawing/2014/main" id="{D8722269-3F7A-40DB-8DB8-FBFBEB31D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560" y="1754981"/>
            <a:ext cx="3827194" cy="276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18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B32F28-2A15-48BF-BA2A-6BA1E5BB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Finanzielle Schäden durch Korrosion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43C3D4-4273-49AA-B3FF-08025A1AC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Bei besseren Kenntnissen wären, 30% weniger Kosten möglich</a:t>
            </a:r>
          </a:p>
          <a:p>
            <a:endParaRPr lang="de-AT" dirty="0"/>
          </a:p>
          <a:p>
            <a:r>
              <a:rPr lang="de-AT" dirty="0"/>
              <a:t>Durch Korrosion wird das BIP eines Landes um 3% vermindert</a:t>
            </a:r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www.tagesspiegel.de/wirtschaft/studie-rost-vernichtet-jaehrlich-drei-prozent-des-bip/1641884.html</a:t>
            </a:r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1929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EFA33-8613-4A62-B99D-FB093F06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Zeitungsartikel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45A573-F86F-4CFF-A314-7B1EC0D55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kleinezeitung.at/</a:t>
            </a:r>
            <a:r>
              <a:rPr lang="de-AT" dirty="0" err="1">
                <a:hlinkClick r:id="rId2"/>
              </a:rPr>
              <a:t>auto</a:t>
            </a:r>
            <a:r>
              <a:rPr lang="de-AT" dirty="0">
                <a:hlinkClick r:id="rId2"/>
              </a:rPr>
              <a:t>/</a:t>
            </a:r>
            <a:r>
              <a:rPr lang="de-AT" dirty="0" err="1">
                <a:hlinkClick r:id="rId2"/>
              </a:rPr>
              <a:t>motorraum</a:t>
            </a:r>
            <a:r>
              <a:rPr lang="de-AT" dirty="0">
                <a:hlinkClick r:id="rId2"/>
              </a:rPr>
              <a:t>/5871050/GEMEINER-</a:t>
            </a:r>
            <a:r>
              <a:rPr lang="de-AT" dirty="0" err="1">
                <a:hlinkClick r:id="rId2"/>
              </a:rPr>
              <a:t>LOCHFRASS_Alles</a:t>
            </a:r>
            <a:r>
              <a:rPr lang="de-AT" dirty="0">
                <a:hlinkClick r:id="rId2"/>
              </a:rPr>
              <a:t>-</a:t>
            </a:r>
            <a:r>
              <a:rPr lang="de-AT" dirty="0" err="1">
                <a:hlinkClick r:id="rId2"/>
              </a:rPr>
              <a:t>ueber</a:t>
            </a:r>
            <a:r>
              <a:rPr lang="de-AT" dirty="0">
                <a:hlinkClick r:id="rId2"/>
              </a:rPr>
              <a:t>-die-braune-Pest</a:t>
            </a:r>
            <a:endParaRPr lang="de-AT" dirty="0"/>
          </a:p>
          <a:p>
            <a:endParaRPr lang="de-AT" dirty="0"/>
          </a:p>
          <a:p>
            <a:r>
              <a:rPr lang="de-AT" dirty="0">
                <a:hlinkClick r:id="rId3"/>
              </a:rPr>
              <a:t>aachener-zeitung.de/karlo-clever/eisen-vor-rost-schuetzen_aid-62309393</a:t>
            </a:r>
            <a:endParaRPr lang="de-AT" dirty="0"/>
          </a:p>
          <a:p>
            <a:endParaRPr lang="de-AT" dirty="0"/>
          </a:p>
          <a:p>
            <a:r>
              <a:rPr lang="de-AT" dirty="0">
                <a:hlinkClick r:id="rId4"/>
              </a:rPr>
              <a:t>mittellaendische.ch/2020/10/23/</a:t>
            </a:r>
            <a:r>
              <a:rPr lang="de-AT" dirty="0" err="1">
                <a:hlinkClick r:id="rId4"/>
              </a:rPr>
              <a:t>korrosion</a:t>
            </a:r>
            <a:r>
              <a:rPr lang="de-AT" dirty="0">
                <a:hlinkClick r:id="rId4"/>
              </a:rPr>
              <a:t>-schleichender-zerfall/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58503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28604E-8A21-4AF0-B820-10DB70AF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Fragen an die 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027AA0-C5EF-4A4D-9269-AA841BE88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Kann ein Stück Eisen im Weltall rosten?</a:t>
            </a:r>
          </a:p>
          <a:p>
            <a:endParaRPr lang="de-AT" dirty="0"/>
          </a:p>
          <a:p>
            <a:r>
              <a:rPr lang="de-AT" dirty="0"/>
              <a:t>Ist es sinnvoller bei einer Fahrradkette aktiven oder passiven Korrosionsschutz einzusetzen? </a:t>
            </a:r>
          </a:p>
          <a:p>
            <a:endParaRPr lang="de-AT" dirty="0"/>
          </a:p>
          <a:p>
            <a:r>
              <a:rPr lang="de-DE" dirty="0"/>
              <a:t>Was ist die häufigste Korrosionsart?</a:t>
            </a:r>
          </a:p>
          <a:p>
            <a:endParaRPr lang="de-AT" dirty="0"/>
          </a:p>
          <a:p>
            <a:r>
              <a:rPr lang="de-AT" dirty="0"/>
              <a:t>Kennt jemand einen Verwendungszweck von Eisenoxid?</a:t>
            </a:r>
          </a:p>
          <a:p>
            <a:endParaRPr lang="de-AT" dirty="0"/>
          </a:p>
          <a:p>
            <a:r>
              <a:rPr lang="de-AT" dirty="0"/>
              <a:t>Nenne die Nachteile des passiven Korrosionsschutzes.</a:t>
            </a:r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0551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3CC1C-BD88-4B61-AFDC-00D4BA10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Sonstige Quellangaben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EB749D-6DC5-4DCA-9023-367EE8CEF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tech-isolierung.de/korrosion-unter-der-daemmung-ein-milliarden-euro-problem-15092021</a:t>
            </a:r>
            <a:endParaRPr lang="de-AT" dirty="0"/>
          </a:p>
          <a:p>
            <a:endParaRPr lang="de-AT" dirty="0"/>
          </a:p>
          <a:p>
            <a:r>
              <a:rPr lang="de-AT" dirty="0">
                <a:hlinkClick r:id="rId3"/>
              </a:rPr>
              <a:t>dgzfp.de/Portals/24/IZ/PDF/Jugend%20forscht/RW%20Frankfurt%20am%20Main%202018.pdf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8379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E7002-7C1B-4954-BE59-1DE9D763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Meine Meinung zum Thema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0480B4-3C6C-4BB2-8900-68FDE303B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de-AT" dirty="0"/>
              <a:t>Würden mehr Leute Korrosion nicht als Nebensache sehen, könnte jeder damit Geld und Zeit sparen</a:t>
            </a:r>
          </a:p>
          <a:p>
            <a:endParaRPr lang="de-AT" dirty="0"/>
          </a:p>
          <a:p>
            <a:r>
              <a:rPr lang="de-AT" dirty="0"/>
              <a:t>Es sollte außerdem intensiver in den betroffenen Branchen besprochen werden</a:t>
            </a:r>
          </a:p>
        </p:txBody>
      </p:sp>
    </p:spTree>
    <p:extLst>
      <p:ext uri="{BB962C8B-B14F-4D97-AF65-F5344CB8AC3E}">
        <p14:creationId xmlns:p14="http://schemas.microsoft.com/office/powerpoint/2010/main" val="473533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129B7-B72C-4ECD-9ACC-57718485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Reaktionsgleichung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B22FA8-A2FD-460C-A3A0-D2DCDB241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lnSpcReduction="10000"/>
          </a:bodyPr>
          <a:lstStyle/>
          <a:p>
            <a:endParaRPr lang="de-AT" dirty="0"/>
          </a:p>
          <a:p>
            <a:endParaRPr lang="de-DE" dirty="0"/>
          </a:p>
          <a:p>
            <a:r>
              <a:rPr lang="de-DE" dirty="0"/>
              <a:t>Umwandlung von elementarem Eisen in Eisen(III)-hydroxid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pPr marL="0" indent="0">
              <a:buNone/>
            </a:pPr>
            <a:r>
              <a:rPr lang="de-AT" b="1" dirty="0"/>
              <a:t>Quelle:</a:t>
            </a:r>
          </a:p>
          <a:p>
            <a:pPr marL="0" indent="0">
              <a:buNone/>
            </a:pPr>
            <a:r>
              <a:rPr lang="de-AT" dirty="0"/>
              <a:t>entmontage.de/technik02.htm</a:t>
            </a:r>
          </a:p>
        </p:txBody>
      </p:sp>
      <p:pic>
        <p:nvPicPr>
          <p:cNvPr id="2052" name="Picture 4" descr="http://www.entmontage.de/bilder/technik/reaktionsgleichung_001.gif">
            <a:extLst>
              <a:ext uri="{FF2B5EF4-FFF2-40B4-BE49-F238E27FC236}">
                <a16:creationId xmlns:a16="http://schemas.microsoft.com/office/drawing/2014/main" id="{ECDFAFDB-214F-4FA5-883A-A6D616943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39" y="1976893"/>
            <a:ext cx="5182961" cy="77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797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22403-6FE0-489C-8FC9-BF9F73CA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514" y="28956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de-AT" sz="4400" b="1" dirty="0"/>
              <a:t>Danke für eure Aufmerksamkeit!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33A16-52E1-42E3-8B99-5962DC29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7534" y="7482840"/>
            <a:ext cx="2606886" cy="859762"/>
          </a:xfrm>
        </p:spPr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64240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Rot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559</Words>
  <Application>Microsoft Office PowerPoint</Application>
  <PresentationFormat>Breitbild</PresentationFormat>
  <Paragraphs>159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Facette</vt:lpstr>
      <vt:lpstr>Korrosion (Rost)</vt:lpstr>
      <vt:lpstr>Gliederung</vt:lpstr>
      <vt:lpstr>Was ist Korrosion?</vt:lpstr>
      <vt:lpstr>Beispiele</vt:lpstr>
      <vt:lpstr>Chemische Sicht von Korrosion (Bsp. Rost)</vt:lpstr>
      <vt:lpstr>Passiver Schutz gegen Korrosion</vt:lpstr>
      <vt:lpstr>Aktiver Schutz gegen Korrosion</vt:lpstr>
      <vt:lpstr>Arten von Korrosion</vt:lpstr>
      <vt:lpstr>Kontaktkorrosion</vt:lpstr>
      <vt:lpstr>Lochfraßkorrosion</vt:lpstr>
      <vt:lpstr>Spannungsrisskorrosion</vt:lpstr>
      <vt:lpstr>Finanzielle Schäden durch Korrosion</vt:lpstr>
      <vt:lpstr>Zeitungsartikel</vt:lpstr>
      <vt:lpstr>Fragen an die Klasse</vt:lpstr>
      <vt:lpstr>Sonstige Quellangaben</vt:lpstr>
      <vt:lpstr>Meine Meinung zum Thema</vt:lpstr>
      <vt:lpstr>Reaktionsgleichung</vt:lpstr>
      <vt:lpstr>Danke für eure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Korrosion</dc:title>
  <dc:creator>Eliah</dc:creator>
  <cp:lastModifiedBy>Eliah</cp:lastModifiedBy>
  <cp:revision>90</cp:revision>
  <dcterms:created xsi:type="dcterms:W3CDTF">2022-03-02T10:26:48Z</dcterms:created>
  <dcterms:modified xsi:type="dcterms:W3CDTF">2022-03-02T19:49:15Z</dcterms:modified>
</cp:coreProperties>
</file>